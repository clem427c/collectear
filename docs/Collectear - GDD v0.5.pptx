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9b2ce76-85b2-eac4-d9f6-d57a11bdfd67}">
          <p14:sldIdLst>
            <p14:sldId id="256"/>
            <p14:sldId id="257"/>
          </p14:sldIdLst>
        </p14:section>
        <p14:section name="Gameplay" id="{bf73354d-7a1e-373e-0068-80a0d5dc9353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llection" id="{692b7bec-5efe-3b23-e4d9-b4e1d0e09b96}">
          <p14:sldIdLst>
            <p14:sldId id="265"/>
            <p14:sldId id="266"/>
            <p14:sldId id="267"/>
            <p14:sldId id="268"/>
          </p14:sldIdLst>
        </p14:section>
        <p14:section name="Social et compte" id="{d2f460bd-bc07-da4d-f97c-3da545ba6b27}">
          <p14:sldIdLst>
            <p14:sldId id="269"/>
          </p14:sldIdLst>
        </p14:section>
        <p14:section name="Business et technique" id="{c7c72e41-0d0e-8422-89ba-1bf1a866f28a}">
          <p14:sldIdLst>
            <p14:sldId id="270"/>
            <p14:sldId id="271"/>
            <p14:sldId id="272"/>
          </p14:sldIdLst>
        </p14:section>
        <p14:section name="Suite" id="{cd6fc9f7-7020-0ac4-1bfe-0416155c3934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44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440"/>
                </a:solidFill>
                <a:latin typeface="+mn-lt"/>
              </a:rPr>
              <a:t>Rareté des créatures (exemple,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Probabilité</c:v>
                </c:pt>
              </c:strCache>
            </c:strRef>
          </c:tx>
          <c:spPr>
            <a:solidFill>
              <a:srgbClr val="7B5C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Commune</c:v>
                  </c:pt>
                  <c:pt idx="1">
                    <c:v>Peu commune</c:v>
                  </c:pt>
                  <c:pt idx="2">
                    <c:v>Rare</c:v>
                  </c:pt>
                  <c:pt idx="3">
                    <c:v>Épique</c:v>
                  </c:pt>
                  <c:pt idx="4">
                    <c:v>Légendaire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25</c:v>
                </c:pt>
                <c:pt idx="2">
                  <c:v>10</c:v>
                </c:pt>
                <c:pt idx="3">
                  <c:v>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8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b"/>
        <c:majorGridlines>
          <c:spPr>
            <a:ln w="6350" cap="flat">
              <a:solidFill>
                <a:srgbClr val="E4E1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8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Différenciation : la collection est alimentée par une phase d'exploration-action dans un monde procédural infini, et chaque créature obtenue est une variante unique. Univers 100 % original, donc aucun problème de licence.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Collectear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Explore. Débloque. Collectionne. · GDD v0.5 · jeu mobile Flutter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 rot="-720000">
            <a:off x="6583680" y="457200"/>
            <a:ext cx="1005840" cy="1371600"/>
          </a:xfrm>
          <a:prstGeom prst="roundRect">
            <a:avLst>
              <a:gd name="adj" fmla="val 9091"/>
            </a:avLst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86600" y="566928"/>
            <a:ext cx="1005840" cy="1371600"/>
          </a:xfrm>
          <a:prstGeom prst="roundRect">
            <a:avLst>
              <a:gd name="adj" fmla="val 9091"/>
            </a:avLst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720000">
            <a:off x="7589520" y="676656"/>
            <a:ext cx="1005840" cy="1371600"/>
          </a:xfrm>
          <a:prstGeom prst="roundRect">
            <a:avLst>
              <a:gd name="adj" fmla="val 9091"/>
            </a:avLst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9144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concept en une phrase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Collectear : un jeu d'exploration-action où l'on collectionne des créatures et des héros originaux, chacun unique, en runs de 2 minutes dans un monde infini, nouveau à chaque run.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514600"/>
            <a:ext cx="594360" cy="5943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6631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Explorer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6118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monde infini et aléatoire, différent à chaque partie, où des lieux cachés attendent d'être trouvés.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2860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514600"/>
            <a:ext cx="594360" cy="59436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6631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Collectionner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6118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Chaque lieu débloqué donne une créature ou un héros, en variante unique. Objectif : compléter le bestiaire.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2286000"/>
            <a:ext cx="25603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2514600"/>
            <a:ext cx="594360" cy="59436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26631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Partager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6118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Ajouter des amis, échanger ses cartes, s'affronter et comparer ses records d'exploration.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Boucle de gameplay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04672" y="132588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15316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2860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Explorer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060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le monde généré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55648" y="16184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05456" y="1325880"/>
            <a:ext cx="822960" cy="8229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96" y="15316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57984" y="22860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Survivre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157984" y="26060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combattre / esquiver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56432" y="16184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1325880"/>
            <a:ext cx="822960" cy="82296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5316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58768" y="22860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Débloquer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858768" y="26060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un lieu caché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157216" y="16184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07024" y="1325880"/>
            <a:ext cx="822960" cy="82296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15316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59552" y="22860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Obtenir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5559552" y="26060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créature · héros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858000" y="16184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607808" y="1325880"/>
            <a:ext cx="822960" cy="822960"/>
          </a:xfrm>
          <a:prstGeom prst="ellipse">
            <a:avLst/>
          </a:prstGeom>
          <a:solidFill>
            <a:srgbClr val="2A1F5C"/>
          </a:solidFill>
          <a:ln w="12700">
            <a:solidFill>
              <a:srgbClr val="2A1F5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548" y="15316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60336" y="228600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Utiliser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260336" y="260604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échange · bataille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3383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Boucle courte (2 min max)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une run = explorer son monde, gagner jusqu'à 3 cartes, puis retour au menu. Plusieurs runs par jour, le temps d'une pause.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Boucle longue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compléter le bestiaire, chasser les variantes rares, échanger, monter son équipe pour les combats entre amis.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Une run : 2 minutes maximum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50392" y="1143000"/>
            <a:ext cx="731520" cy="731520"/>
          </a:xfrm>
          <a:prstGeom prst="ellipse">
            <a:avLst/>
          </a:prstGeom>
          <a:solidFill>
            <a:srgbClr val="2A1F5C"/>
          </a:solidFill>
          <a:ln w="12700">
            <a:solidFill>
              <a:srgbClr val="2A1F5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3258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9659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Menu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bestiaire, amis, boutique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55648" y="13898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551176" y="114300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57984" y="19659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2157984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chrono de 2:00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456432" y="13898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51960" y="1143000"/>
            <a:ext cx="731520" cy="7315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325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58768" y="19659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Cartes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3858768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ennemis · lieux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157216" y="13898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52744" y="1143000"/>
            <a:ext cx="731520" cy="7315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13258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59552" y="19659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 de run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5559552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voir ci-dessous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858000" y="1389888"/>
            <a:ext cx="292608" cy="237744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653528" y="1143000"/>
            <a:ext cx="731520" cy="7315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32588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60336" y="1965960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Récap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260336" y="22677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nouvelles cartes et stats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57200" y="2743200"/>
            <a:ext cx="40233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façons de finir une run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85800" y="32004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Mort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du personnage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3 cartes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collectionnées : run réussie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Chrono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de 2 minutes écoulé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Dans tous les cas, les cartes obtenues sont conservées.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663440" y="2743200"/>
            <a:ext cx="40233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4892040" y="28529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façons d'obtenir une carte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4892040" y="32004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Tuer 10 ennemis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pendant la run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La trouver dans un lieu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(sanctuaire, tour, ruine, coffre)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Pensé pour des sessions courtes, lancées plusieurs fois par jour (pause au travail, transports).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monde infini, généré procéduralement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30352" cy="530352"/>
          </a:xfrm>
          <a:prstGeom prst="rect">
            <a:avLst/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" y="118872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91056" y="1188720"/>
            <a:ext cx="530352" cy="530352"/>
          </a:xfrm>
          <a:prstGeom prst="rect">
            <a:avLst/>
          </a:prstGeom>
          <a:solidFill>
            <a:srgbClr val="E7E1FF"/>
          </a:solidFill>
          <a:ln w="12700">
            <a:solidFill>
              <a:srgbClr val="E7E1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984" y="1188720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24912" y="1188720"/>
            <a:ext cx="530352" cy="530352"/>
          </a:xfrm>
          <a:prstGeom prst="rect">
            <a:avLst/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8872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55648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755648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91056" y="1755648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57984" y="1755648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24912" y="1755648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755648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22576"/>
            <a:ext cx="530352" cy="530352"/>
          </a:xfrm>
          <a:prstGeom prst="rect">
            <a:avLst/>
          </a:prstGeom>
          <a:solidFill>
            <a:srgbClr val="E7E1FF"/>
          </a:solidFill>
          <a:ln w="12700">
            <a:solidFill>
              <a:srgbClr val="E7E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2322576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91056" y="2322576"/>
            <a:ext cx="530352" cy="530352"/>
          </a:xfrm>
          <a:prstGeom prst="rect">
            <a:avLst/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57984" y="2322576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2322576"/>
            <a:ext cx="530352" cy="530352"/>
          </a:xfrm>
          <a:prstGeom prst="rect">
            <a:avLst/>
          </a:prstGeom>
          <a:solidFill>
            <a:srgbClr val="E7E1FF"/>
          </a:solidFill>
          <a:ln w="12700">
            <a:solidFill>
              <a:srgbClr val="E7E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322576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9504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2889504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91056" y="2889504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57984" y="2889504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24912" y="2889504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889504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56432"/>
            <a:ext cx="530352" cy="530352"/>
          </a:xfrm>
          <a:prstGeom prst="rect">
            <a:avLst/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4128" y="3456432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91056" y="3456432"/>
            <a:ext cx="530352" cy="530352"/>
          </a:xfrm>
          <a:prstGeom prst="rect">
            <a:avLst/>
          </a:prstGeom>
          <a:solidFill>
            <a:srgbClr val="E7E1FF"/>
          </a:solidFill>
          <a:ln w="12700">
            <a:solidFill>
              <a:srgbClr val="E7E1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7984" y="3456432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24912" y="3456432"/>
            <a:ext cx="530352" cy="530352"/>
          </a:xfrm>
          <a:prstGeom prst="rect">
            <a:avLst/>
          </a:prstGeom>
          <a:solidFill>
            <a:srgbClr val="F3F1FA"/>
          </a:solidFill>
          <a:ln w="12700">
            <a:solidFill>
              <a:srgbClr val="F3F1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3456432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2336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" y="402336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91056" y="4023360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57984" y="4023360"/>
            <a:ext cx="53035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24912" y="402336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4023360"/>
            <a:ext cx="530352" cy="530352"/>
          </a:xfrm>
          <a:prstGeom prst="rect">
            <a:avLst/>
          </a:prstGeom>
          <a:solidFill>
            <a:srgbClr val="FFF0CC"/>
          </a:solidFill>
          <a:ln w="12700">
            <a:solidFill>
              <a:srgbClr val="FFF0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9928" y="3008376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883664"/>
            <a:ext cx="274320" cy="274320"/>
          </a:xfrm>
          <a:prstGeom prst="rect">
            <a:avLst/>
          </a:prstGeom>
        </p:spPr>
      </p:pic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316736"/>
            <a:ext cx="274320" cy="274320"/>
          </a:xfrm>
          <a:prstGeom prst="rect">
            <a:avLst/>
          </a:prstGeom>
        </p:spPr>
      </p:pic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3584448"/>
            <a:ext cx="274320" cy="274320"/>
          </a:xfrm>
          <a:prstGeom prst="rect">
            <a:avLst/>
          </a:prstGeom>
        </p:spPr>
      </p:pic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4151376"/>
            <a:ext cx="274320" cy="274320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1005840" y="2304288"/>
            <a:ext cx="1700784" cy="1700784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solidFill>
              <a:schemeClr val="accent1"/>
            </a:solidFill>
            <a:prstDash val="dash"/>
          </a:ln>
        </p:spPr>
      </p:sp>
      <p:sp>
        <p:nvSpPr>
          <p:cNvPr id="45" name="Text 39"/>
          <p:cNvSpPr txBox="1"/>
          <p:nvPr/>
        </p:nvSpPr>
        <p:spPr>
          <a:xfrm>
            <a:off x="457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Joueur au centre · zone chargée en pointillés · ★ lieux à découvrir</a:t>
            </a:r>
            <a:endParaRPr lang="en-US" sz="1000" dirty="0"/>
          </a:p>
        </p:txBody>
      </p:sp>
      <p:sp>
        <p:nvSpPr>
          <p:cNvPr id="46" name="Text 40"/>
          <p:cNvSpPr txBox="1"/>
          <p:nvPr/>
        </p:nvSpPr>
        <p:spPr>
          <a:xfrm>
            <a:off x="4206240" y="1188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Chunks</a:t>
            </a:r>
            <a:endParaRPr lang="en-US" sz="1500" dirty="0"/>
          </a:p>
        </p:txBody>
      </p:sp>
      <p:sp>
        <p:nvSpPr>
          <p:cNvPr id="47" name="Text 41"/>
          <p:cNvSpPr txBox="1"/>
          <p:nvPr/>
        </p:nvSpPr>
        <p:spPr>
          <a:xfrm>
            <a:off x="4206240" y="14630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monde est découpé en zones chargées autour du joueur et déchargées derrière lui : infini sans saturer la mémoire du téléphone.</a:t>
            </a:r>
            <a:endParaRPr lang="en-US" sz="1200" dirty="0"/>
          </a:p>
        </p:txBody>
      </p:sp>
      <p:sp>
        <p:nvSpPr>
          <p:cNvPr id="48" name="Text 42"/>
          <p:cNvSpPr txBox="1"/>
          <p:nvPr/>
        </p:nvSpPr>
        <p:spPr>
          <a:xfrm>
            <a:off x="4206240" y="2057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Nouveau monde à chaque run</a:t>
            </a:r>
            <a:endParaRPr lang="en-US" sz="1500" dirty="0"/>
          </a:p>
        </p:txBody>
      </p:sp>
      <p:sp>
        <p:nvSpPr>
          <p:cNvPr id="49" name="Text 43"/>
          <p:cNvSpPr txBox="1"/>
          <p:nvPr/>
        </p:nvSpPr>
        <p:spPr>
          <a:xfrm>
            <a:off x="4206240" y="23317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Chaque run génère un nouveau monde à partir d'une nouvelle seed. Ni partagé, ni conservé.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420624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Biomes &amp; niveaux de hauteur</a:t>
            </a:r>
            <a:endParaRPr lang="en-US" sz="1500" dirty="0"/>
          </a:p>
        </p:txBody>
      </p:sp>
      <p:sp>
        <p:nvSpPr>
          <p:cNvPr id="51" name="Text 45"/>
          <p:cNvSpPr txBox="1"/>
          <p:nvPr/>
        </p:nvSpPr>
        <p:spPr>
          <a:xfrm>
            <a:off x="420624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Bruit (Perlin/Simplex) pour les biomes et pour la hauteur, découpée en niveaux (voir diapo suivante).</a:t>
            </a:r>
            <a:endParaRPr lang="en-US" sz="1200" dirty="0"/>
          </a:p>
        </p:txBody>
      </p:sp>
      <p:sp>
        <p:nvSpPr>
          <p:cNvPr id="52" name="Text 46"/>
          <p:cNvSpPr txBox="1"/>
          <p:nvPr/>
        </p:nvSpPr>
        <p:spPr>
          <a:xfrm>
            <a:off x="420624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Difficulté par distance</a:t>
            </a:r>
            <a:endParaRPr lang="en-US" sz="1500" dirty="0"/>
          </a:p>
        </p:txBody>
      </p:sp>
      <p:sp>
        <p:nvSpPr>
          <p:cNvPr id="53" name="Text 47"/>
          <p:cNvSpPr txBox="1"/>
          <p:nvPr/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Plus on s'éloigne du départ en 2 minutes, plus les ennemis sont forts et les variantes rares : prise de risque.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Vue de dessus et niveaux de hauteur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9164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2971800"/>
            <a:ext cx="393192" cy="530352"/>
          </a:xfrm>
          <a:prstGeom prst="rect">
            <a:avLst/>
          </a:prstGeom>
          <a:solidFill>
            <a:srgbClr val="97DED4"/>
          </a:solidFill>
          <a:ln w="12700">
            <a:solidFill>
              <a:srgbClr val="97DE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2971800"/>
            <a:ext cx="393192" cy="530352"/>
          </a:xfrm>
          <a:prstGeom prst="rect">
            <a:avLst/>
          </a:prstGeom>
          <a:solidFill>
            <a:srgbClr val="97DED4"/>
          </a:solidFill>
          <a:ln w="12700">
            <a:solidFill>
              <a:srgbClr val="97D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3120" y="2423160"/>
            <a:ext cx="393192" cy="530352"/>
          </a:xfrm>
          <a:prstGeom prst="rect">
            <a:avLst/>
          </a:prstGeom>
          <a:solidFill>
            <a:srgbClr val="6FCFC2"/>
          </a:solidFill>
          <a:ln w="12700">
            <a:solidFill>
              <a:srgbClr val="6FCF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2971800"/>
            <a:ext cx="393192" cy="530352"/>
          </a:xfrm>
          <a:prstGeom prst="rect">
            <a:avLst/>
          </a:prstGeom>
          <a:solidFill>
            <a:srgbClr val="97DED4"/>
          </a:solidFill>
          <a:ln w="12700">
            <a:solidFill>
              <a:srgbClr val="97DE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2423160"/>
            <a:ext cx="393192" cy="530352"/>
          </a:xfrm>
          <a:prstGeom prst="rect">
            <a:avLst/>
          </a:prstGeom>
          <a:solidFill>
            <a:srgbClr val="6FCFC2"/>
          </a:solidFill>
          <a:ln w="12700">
            <a:solidFill>
              <a:srgbClr val="6FCF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971800"/>
            <a:ext cx="393192" cy="530352"/>
          </a:xfrm>
          <a:prstGeom prst="rect">
            <a:avLst/>
          </a:prstGeom>
          <a:solidFill>
            <a:srgbClr val="97DED4"/>
          </a:solidFill>
          <a:ln w="12700">
            <a:solidFill>
              <a:srgbClr val="97DE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3520440"/>
            <a:ext cx="393192" cy="530352"/>
          </a:xfrm>
          <a:prstGeom prst="rect">
            <a:avLst/>
          </a:prstGeom>
          <a:solidFill>
            <a:srgbClr val="B9EAE3"/>
          </a:solidFill>
          <a:ln w="12700">
            <a:solidFill>
              <a:srgbClr val="B9EA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4069080"/>
            <a:ext cx="393192" cy="530352"/>
          </a:xfrm>
          <a:prstGeom prst="rect">
            <a:avLst/>
          </a:prstGeom>
          <a:solidFill>
            <a:srgbClr val="DDF5F2"/>
          </a:solidFill>
          <a:ln w="12700">
            <a:solidFill>
              <a:srgbClr val="DDF5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45152" y="4233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Niv. 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3685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Niv. 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31363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Niv. 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645152" y="2587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Niv.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71600" y="3017520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17320" y="2468880"/>
            <a:ext cx="548640" cy="411480"/>
          </a:xfrm>
          <a:prstGeom prst="curvedUp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Vue en coupe pour illustrer ; en jeu, la caméra est au-dessus et les niveaux se lisent par les ombres et les bords de falaise.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Caméra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0" y="13716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Vue de dessus (top-down), le personnage se déplace dans les 8 directions.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Niveaux de hauteur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22860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Chaque case du monde a un niveau (0, 1, 2…) calculé par bruit : collines, plateaux, falaises, tous générés.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Saut = +1 niveau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0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saut permet de monter d'un seul niveau. Se laisser tomber permet de redescendre.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Level design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0" y="4114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Les lieux et coffres se cachent sur des plateaux à atteindre par une suite de sauts.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Actions du personnage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685800" cy="6858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6344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déplacer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Joystick virtuel à gauche de l'écran. Déplacement fluide, caméra qui suit le joueur.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63040"/>
            <a:ext cx="685800" cy="68580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90" y="16344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Sauter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Monter d'un niveau de hauteur ; enchaîner les sauts pour atteindre plateaux et lieux cachés.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60604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2880360"/>
            <a:ext cx="685800" cy="6858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05181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Attaquer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Combat en temps réel contre les créatures et ennemis IA. Combo simple possible plus tard.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663440" y="2606040"/>
            <a:ext cx="40233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2880360"/>
            <a:ext cx="685800" cy="68580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490" y="305181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Esquiver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108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Roulade ou dash avec courte invincibilité et temps de recharge, pour éviter les attaques.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Contrôles tactiles : joystick à gauche, trois boutons à droite (sauter · attaquer · esquiver).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Ennemis (IA)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Patrouille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76856" y="1444752"/>
            <a:ext cx="24688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2344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Détection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9976" y="1444752"/>
            <a:ext cx="24688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344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Poursuite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83096" y="1444752"/>
            <a:ext cx="246888" cy="219456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234440"/>
            <a:ext cx="1783080" cy="640080"/>
          </a:xfrm>
          <a:prstGeom prst="roundRect">
            <a:avLst>
              <a:gd name="adj" fmla="val 17143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344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Attaque annoncée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Machine à états simple pour chaque ennemi ; retour en patrouille si le joueur s'éloigne.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4023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Principes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9718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Attaques télégraphiées (signal visuel avant le coup) pour rendre l'esquive lisible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Ennemis générés avec le monde, densité selon le biome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Combats en temps réel ; un ennemi tombe en 3 coups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468880"/>
            <a:ext cx="40233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Deux types d'ennemis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97180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Corps à corps 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s'approche et frappe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Tir à distance 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garde ses distances et tire des projectiles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Pas de mini-boss ni de boss.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Compagnon de 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Avant chaque run, le joueur choisit une créature ou un héros de sa collection. Il l'accompagne et lui donne un boost.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8859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Dégâts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 ennemi tombe en 2 coups au lieu de 3.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55448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0" y="1737360"/>
            <a:ext cx="594360" cy="5943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0" y="18859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Vitesse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834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Déplacement plus rapide pour couvrir plus de terrain.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55448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46320" y="1737360"/>
            <a:ext cx="594360" cy="59436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10" y="18859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4632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Résistance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46320" y="2834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 joueur encaisse 3 coups au lieu de 2.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66560" y="1554480"/>
            <a:ext cx="1920240" cy="21488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0" y="1737360"/>
            <a:ext cx="594360" cy="59436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030" y="18859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49440" y="24688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49440" y="2834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+30 secondes au chrono : la run dure 2:30.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85800" y="3913632"/>
            <a:ext cx="7772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Règles de base : un ennemi meurt en 3 coups ; le joueur meurt au 2e coup reçu, ce qui met fin à la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Lieux à découvrir et récompenses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Sanctuaire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Vaincre les ennemis qui l'entourent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Tour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Monter en sautant de plateforme en plateforme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84048" cy="384048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Trouver l'entrée cachée ou résoudre une petite énigme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84048" cy="38404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Coffre rare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Apparaît loin du départ ; meilleures chances de variante rare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937760" y="1051560"/>
          <a:ext cx="3749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Taux indicatifs, à équilibrer en playtest. Les lieux éloignés améliorent les chances.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 bestiaire : créatures et héros originaux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2194560" cy="3200400"/>
          </a:xfrm>
          <a:prstGeom prst="roundRect">
            <a:avLst>
              <a:gd name="adj" fmla="val 6250"/>
            </a:avLst>
          </a:prstGeom>
          <a:solidFill>
            <a:schemeClr val="tx2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1828800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Nom de la créature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★★★ Rare · Biome forêt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ATQ 7 · DEF 4 · PV 12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N° 042 / 150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1143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Créatures et héros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Deux familles originales, chacune avec illustration, nom, biome, rareté, stats et numéro dans le bestiaire.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965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Bestiaire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240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Cases manquantes en silhouette pour donner envie de compléter ; chaque biome a ses espèces.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Compagnon de run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30632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Chaque carte peut accompagner le joueur pendant une run et lui donner un boost.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3611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300+ de base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38862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 moins 300 créatures et héros différents, sans compter les variantes et shiny générés. Doublons échangeables.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44348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Inspirations : Pokémon (capture et compagnon), Pokémon TCG et Wikimasters (collection)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Variantes uniques et profil d'explorateur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Variantes procédurales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Chaque carte est générée à partir de la seed du monde et du lieu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Couleurs, motifs, traits et stats légèrement différents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Shiny et variantes rares (dorée, cristal, ombre…) : un exemplaire peut être unique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Moteur des échanges : on cherche la variante qu'on n'a pas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Profil d'explorateur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Chacun explore son propre monde : pas de monde partagé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Profil visible par les amis : lieux découverts, record de distance, variantes rares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Classement des explorateurs entre amis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Partage de ses plus belles trouvailles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9593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Pourquoi ça attire : rareté réelle, envie de montrer sa trouvaille, utilité en combat, collection à compléter.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Production des visuels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Illustrations de base : IA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659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300+ créatures et héros générés par IA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Fiche de style fixe (prompt de base, palette, cadrage) pour une DA cohérente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Retouche humaine sur chaque image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Vérifier les CGU de l'outil pour l'usage commercial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Variantes : code procédural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 seed fixe les paramètres de chaque variante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Teinte et palette via shader ou ColorFilter dans Flutter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Motifs et effets shiny en surcouche (reflets, particules)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Taille et stats légèrement modifiées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950208"/>
            <a:ext cx="77724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Attention : une image 100 % IA n'est pas protégée par le droit d'auteur aux États-Unis, et sans doute pas en France sans apport humain réel. La retouche et le dépôt de la marque protègent le projet.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Compte, amis, échanges et combats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20240" cy="3474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Compte joueur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7744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Inscription e-mail ou Google / Apple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Collection sauvegardée en ligne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Même compte sur mobile et navigateur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143000"/>
            <a:ext cx="1920240" cy="3474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Amis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37744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Ajout par code ami ou pseudo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Voir le bestiaire d'un ami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Liste de souhaits partagée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63440" y="1143000"/>
            <a:ext cx="1920240" cy="3474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63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Échanges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37744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Créature contre créature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Validation par les deux joueurs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Limites anti-abus (par jour, rareté)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66560" y="1143000"/>
            <a:ext cx="1920240" cy="34747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32588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63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1965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Combats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37744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Entre amis, avec ses cartes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Format en réflexion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Mis de côté pour l'instant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Monétisation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Publicités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Vidéos récompensées (optionnelles) : run bonus au-delà de 10 par jour, résurrection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Interstitiels rares, jamais pendant une run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Option payante « sans pub »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Skins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Apparences du personnage explorateur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Cadres de fiches, effets visuels, accessoires de créatures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Purement cosmétique : aucun avantage en jeu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5800" y="3886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Ligne rouge : pas de pay-to-win, pas de vente de créatures ou de boosters contre de l'argent réel (cadre légal des loot boxes à surveiller).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Architecture technique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 Flutter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20040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Flutter + Flame (moteur 2D pour Flutter) : rendu, collisions, entrées tactiles. Interface hors-jeu (bestiaire, amis, boutique) en widgets Flutter classiques.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488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0040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Firebase ou Supabase : authentification, base de données (collection, amis, échanges), fonctions serveur pour valider les récompenses.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880360"/>
            <a:ext cx="548640" cy="5486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175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Services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320040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Google AdMob (pubs), achats intégrés App Store / Google Play (skins, sans pub), analytics.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74904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86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 (plus tard)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320040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Flutter Web pour une version navigateur, même code et même compte.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Règle d'or : le serveur décide des récompenses et des échanges, jamais le téléphone (anti-triche).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univers 100 % original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Pourquoi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Aucun risque de droit d'auteur ou de marque sur des personnages tiers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Aucune licence à payer, pas de retrait des stores sur plainte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Marque « Collectear » et noms de créatures déposables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À faire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Vérifier que les noms de créatures et du jeu ne sont pas déjà des marques (bases INPI / EUIPO)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Garder une trace datée des créations (ex. enveloppe Soleau INPI)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Déposer la marque du jeu avant le lancement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 pas imiter de créatures existantes de trop près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Décisions prises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2588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Gameplay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Vue de dessus ; un saut = +1 niveau de hauteur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Combats en temps réel, 2 types d'ennemis, pas de boss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Nouveau monde à chaque run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 de 2 min ; fin : mort, 3 cartes ou chrono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Carte : 10 ennemis tués ou trouvée dans un lieu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Compagnon de run avec un boost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325880"/>
            <a:ext cx="548640" cy="54864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Contenu et business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20116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Titre : Collectear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Créatures ET héros, 300+ de base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Illustrations IA + variantes procédurales par code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3 cartes max par run, 10 runs par jour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Pubs + skins cosmétiques, pas de pay-to-win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Univers 100 % original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Questions restantes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Format des combats entre amis (en réflexion, mis de côté)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143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973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532120" y="1234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compteur de 10 ennemis repart-il à zéro à chaque run ?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2514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26403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Quel boost porte chaque carte : fixé par espèce ou tiré au sort par variante ?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63440" y="2286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514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264033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53212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Héros et créatures : quelle différence en dehors du boost ?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3429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3657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10" y="378333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Direction artistique : style imposé à l'IA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63440" y="342900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7B5CFF"/>
          </a:solidFill>
          <a:ln w="12700">
            <a:solidFill>
              <a:srgbClr val="7B5C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2050" y="37833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53212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Disponibilité de la marque « Collectear » (INPI, EUIPO, stores)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Feuille de route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749808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" y="1554480"/>
            <a:ext cx="548640" cy="548640"/>
          </a:xfrm>
          <a:prstGeom prst="ellipse">
            <a:avLst/>
          </a:prstGeom>
          <a:solidFill>
            <a:srgbClr val="2EC4B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183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Prototype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Déplacement, saut, attaque, esquive ; chunks ; 2 ennemis ; chrono 2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42616" y="1554480"/>
            <a:ext cx="548640" cy="548640"/>
          </a:xfrm>
          <a:prstGeom prst="ellipse">
            <a:avLst/>
          </a:prstGeom>
          <a:solidFill>
            <a:srgbClr val="7B5CFF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4261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57984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Boucle de jeu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03704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Lieux, déblocage, créatures de test, variantes, bestiaire local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548640" cy="548640"/>
          </a:xfrm>
          <a:prstGeom prst="ellipse">
            <a:avLst/>
          </a:prstGeom>
          <a:solidFill>
            <a:srgbClr val="FFB627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58768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 ligne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04488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Comptes, sauvegarde serveur, amis, échanges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44184" y="1554480"/>
            <a:ext cx="548640" cy="548640"/>
          </a:xfrm>
          <a:prstGeom prst="ellipse">
            <a:avLst/>
          </a:prstGeom>
          <a:solidFill>
            <a:srgbClr val="FF6B6B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4418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59552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Monétisation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AdMob, skins, achats intégrés ; bêta fermée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44968" y="1554480"/>
            <a:ext cx="548640" cy="548640"/>
          </a:xfrm>
          <a:prstGeom prst="ellipse">
            <a:avLst/>
          </a:prstGeom>
          <a:solidFill>
            <a:srgbClr val="1B144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449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260336" y="2331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Lancement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06056" y="26974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Collectear : 300+ cartes, stores, puis web ; combats entre amis ensuite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Objectif de l'étape 1 : valider que se déplacer et se battre dans le monde est fun, avant tout le reste.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D Cartes">
  <a:themeElements>
    <a:clrScheme name="GDD Cartes">
      <a:dk1>
        <a:srgbClr val="2B2A33"/>
      </a:dk1>
      <a:lt1>
        <a:srgbClr val="FFFFFF"/>
      </a:lt1>
      <a:dk2>
        <a:srgbClr val="1B1440"/>
      </a:dk2>
      <a:lt2>
        <a:srgbClr val="F3F1FA"/>
      </a:lt2>
      <a:accent1>
        <a:srgbClr val="7B5CFF"/>
      </a:accent1>
      <a:accent2>
        <a:srgbClr val="FFB627"/>
      </a:accent2>
      <a:accent3>
        <a:srgbClr val="2EC4B6"/>
      </a:accent3>
      <a:accent4>
        <a:srgbClr val="FF6B6B"/>
      </a:accent4>
      <a:accent5>
        <a:srgbClr val="2A1F5C"/>
      </a:accent5>
      <a:accent6>
        <a:srgbClr val="6B6880"/>
      </a:accent6>
      <a:hlink>
        <a:srgbClr val="7B5CFF"/>
      </a:hlink>
      <a:folHlink>
        <a:srgbClr val="2A1F5C"/>
      </a:folHlink>
    </a:clrScheme>
    <a:fontScheme name="GDD Cart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GDD – Jeu mobile d'exploration et de cartes</dc:title>
  <dc:subject>PptxGenJS Presentation</dc:subject>
  <dc:creator>PptxGenJS</dc:creator>
  <cp:lastModifiedBy>PptxGenJS</cp:lastModifiedBy>
  <cp:revision>1</cp:revision>
  <dcterms:created xsi:type="dcterms:W3CDTF">2026-10-25T23:56:06Z</dcterms:created>
  <dcterms:modified xsi:type="dcterms:W3CDTF">2026-10-25T23:56:06Z</dcterms:modified>
</cp:coreProperties>
</file>